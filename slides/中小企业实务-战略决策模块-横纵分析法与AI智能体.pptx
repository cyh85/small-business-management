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开场（2 分钟）：先不问方法，先问处境——'如果老板让你三天内给一个战略判断，你会怎么做？'
再亮底牌：今天不靠感觉、不靠顾问，靠一套双轴方法 + 一个 AI 智能体，当场跑出可核查的决策简报。
提示：本页可作为整个模块的'承诺页'，四节课结束时兑现它。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开场用法（第 1 节前 5 分钟）：先让学员看这张表，明确'每一节都必须带走一张纸'。
课堂纪律：手机/电脑要打开 AI 工具，本课不允许只带耳朵来。
时间提示：全程为半天连堂（9:00–11:45），两个时段各 2 节课，10:15–10:30 休息 15 分钟。每节约 35 分钟，四节共 4 份产出。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用法（第 1 节，约 15 分钟）：先只讲情境卡，停 90 秒，让学员两人一组说出自己的第一反应。
再把三问投出来，最后投'为什么不够'——让学员自己得出'需要一套方法'的结论，而不是你直接给。
追问句：'你上一次做战略决策，证据是什么？' 大多数答案会是'老板的判断'或'行业惯例'。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用法（第 1 节，约 20 分钟）：每把尺子举一个学员身边的例子，不要念定义。
例：RBV → '你厂里那个调机 20 年的老师傅，别人挖不走，这就是资源'；路径依赖 → '当年为了省钱选了这台设备，现在换线要三个月停线'。
关键转折句：三把尺子靠脑子跑，需要几个月；交给 AI 智能体跑，需要 15 分钟——这正是下两节要做的。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用法（第 2 节，约 15 分钟）：画轴、讲四问，不要让学员记术语。
两句话讲透本质：纵轴回答'它为什么是今天这个样子'（历史给答案），横轴回答'它今天的位置有多危险'（对手给答案）。
常见误区提前打预防针：横轴不是参数对照表，要讲清'用户为什么选它'；纵轴不是年表流水账，要有因果和决策逻辑。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用法（第 2 节末 + 第 3 节开头，共约 20 分钟）：现场投屏跑一次，学员跟着自己的电脑跑。
演示节奏：先跑关键词，再当场改一次追问（例如补一句'特别关注它的定价策略'），让学员看到提示词与产出的关系。
强调：AI 会一本正经地编数字，所以要盯住'出处 + 日期'；拿不到就标暂缺。
第 3 节收尾前留 10 分钟，让每个学员把自己跑出来的报告与同桌互评一次。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用法（第 2 节，约 20 分钟）：不要念时间线。先投一个钩子——'2010 年它只是个 BBS 风格的优惠信息站，凭什么 14 年后敢自己做消费大模型？'
再让 AI 智能体当场跑一遍，逐条对照，检查它有没有编数字、有没有写出处。
讨论题：'如果 2015 年它没做商品百科，今天还剩下什么？' 引导学员找到'锁定性决策'这个概念。
注意：教学时把'锁定性决策'讲成'当年一个不起眼的选择，后来变成不能改的路'。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用法（第 3 节，约 20 分钟）：用 AI 智能体现场跑横轴，然后逐格挑刺。
挑刺点：'威胁等级'凭什么这么定？让学员给对手做一轮反方辩护，再决定是不是要改。
关键教学点：横轴不是把对手参数抄一遍，而是回答'用户为什么选它'。
收尾问：'如果你是这个公司的战略负责人，你会去碰小红书的地盘吗？' 引出'窄口'也是一种战略选择。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用法（第 3 节末 · 第 4 节初，约 15 分钟）：这页是'方法论升维'页，要慢讲。
三条洞察都回指纵轴：护城河、定位、夹击，全部能追溯到十年前的某个决定——这就是'历史如何塑造当下的竞争位置'。
三剧本让学员投票：最可能哪个？为什么？投票后逼问一句'你押注的证据是什么'。
最后的类推句是给中小企业老板的钩子，直接连到第 4 节的实战。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用法（第 4 节，约 35 分钟）：5 分钟布置任务 → 15 分钟分组跑 → 10 分钟抽 2–3 组汇报（每组 3 分钟）→ 5 分钟互评打分 + 行动卡说明。
打分只看一件事：结论有没有证据支撑。宁可听一个保守但可核查的判断，也不听漂亮但没出处的话。
收尾金句：把方法交给智能体，把判断留给自己。
若时间允许，现场随机抽一组，让 AI 智能体对它的简报做一次'反方挑刺'演示。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1234440"/>
            <a:ext cx="4114800" cy="4114800"/>
          </a:xfrm>
          <a:prstGeom prst="ellipse">
            <a:avLst/>
          </a:prstGeom>
          <a:solidFill>
            <a:srgbClr val="0E2E2A"/>
          </a:solidFill>
          <a:ln w="19050">
            <a:solidFill>
              <a:srgbClr val="2C6A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828800"/>
            <a:ext cx="2926080" cy="2926080"/>
          </a:xfrm>
          <a:prstGeom prst="ellipse">
            <a:avLst/>
          </a:prstGeom>
          <a:solidFill>
            <a:srgbClr val="17453D"/>
          </a:solidFill>
          <a:ln w="12700">
            <a:solidFill>
              <a:srgbClr val="1745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56064" y="2148840"/>
            <a:ext cx="45720" cy="2286000"/>
          </a:xfrm>
          <a:prstGeom prst="rect">
            <a:avLst/>
          </a:prstGeom>
          <a:solidFill>
            <a:srgbClr val="7EC3B2"/>
          </a:solidFill>
          <a:ln w="12700">
            <a:solidFill>
              <a:srgbClr val="7EC3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3273552"/>
            <a:ext cx="2194560" cy="45720"/>
          </a:xfrm>
          <a:prstGeom prst="rect">
            <a:avLst/>
          </a:prstGeom>
          <a:solidFill>
            <a:srgbClr val="7EC3B2"/>
          </a:solidFill>
          <a:ln w="12700">
            <a:solidFill>
              <a:srgbClr val="7EC3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26296" y="2843784"/>
            <a:ext cx="914400" cy="914400"/>
          </a:xfrm>
          <a:prstGeom prst="ellipse">
            <a:avLst/>
          </a:prstGeom>
          <a:solidFill>
            <a:srgbClr val="C96A22"/>
          </a:solidFill>
          <a:ln w="12700">
            <a:solidFill>
              <a:srgbClr val="C96A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26296" y="284378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0515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C7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MBA《中小企业实务》· 战略决策模块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AI 智能体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把战略决策跑快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8368" y="3200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E2D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横纵分析法：纵向追时间深度，横向追同期广度，交汇出判断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977640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17453D"/>
          </a:solidFill>
          <a:ln w="9525">
            <a:solidFill>
              <a:srgbClr val="2C6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97764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半天连堂 · 4 节课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59152" y="3977640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17453D"/>
          </a:solidFill>
          <a:ln w="9525">
            <a:solidFill>
              <a:srgbClr val="2C6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397764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 + 问题导向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59936" y="3977640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17453D"/>
          </a:solidFill>
          <a:ln w="9525">
            <a:solidFill>
              <a:srgbClr val="2C6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9936" y="397764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 + 实操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3977640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17453D"/>
          </a:solidFill>
          <a:ln w="9525">
            <a:solidFill>
              <a:srgbClr val="2C6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97764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当场产出决策简报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4892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主案例：《人工智能时代的智能导购新纪元——值得买的 AI 转型之路》｜ 中国管理案例共享中心 STR-2480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5212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D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方法：横纵分析法（风轮三昧 Anila Samadhi）· 教学版仓库 github.com/cyh85/small-business-management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课程地图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半天四节课：每一节都从一个问题开始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半天连堂，4 节课：第 1–2 节（9:00–10:15）、第 3–4 节（10:30–11:45）。每节结构固定：场景 → 问题 → 理论 → AI 实操 → 当堂产出。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27632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88920"/>
                <a:gridCol w="2331720"/>
                <a:gridCol w="26517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时段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场景与问题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注入的理论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智能体动作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当堂产出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 1 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A7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 1 时段 · 前半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老板说：同行都在上 AI、搞数字化，我们跟不跟？手里钱和人都不够。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资源基础观 RBV / VRIO、生态位定位、动态能力与路径依赖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A1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分钟读完行业公开信息，把模糊焦虑列成 3 个可判断的问题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问题定义卡：要决策的到底是什么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 2 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A7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 1 时段 · 后半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值得买是怎么从几个人的小站，长成今天的样子的？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方法论溯源：历时-共时分析、纵向-横截面研究、案例研究法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A1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现场跑纵轴：14 年时间线 + 锁定性决策 + 阶段划分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纵向时间线（含 1 张锁定性决策链）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 3 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A7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 2 时段 · 前半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它凭什么打得过小红书，又凭什么敢碰 AI？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生态位分析、竞争定位、用户视角与趋势判断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A1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现场跑横轴：3–5 个对手的对比矩阵 + 生态位结论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竞品对比矩阵 + 一句话生态位判断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 4 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A7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 2 时段 · 后半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换成我的公司、我的赛道，现在该做什么？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横纵交汇：优势/劣势的历史根源、三个剧本推演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A1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分组 15 分钟跑一个关键词，当场生成决策简报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一页决策简报 + 课后 7 天行动卡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8368" y="594360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AE8D8"/>
          </a:solidFill>
          <a:ln w="12700">
            <a:solidFill>
              <a:srgbClr val="FAE8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59436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4A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贯穿全程的一条线：纵向追时间深度，横向追同期广度，交汇出判断。四节课分别完成「定义问题 → 跑纵轴 → 跑横轴 → 出判断」。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0" y="6382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B7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节 · 场景与问题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老板只给你三天，你会怎么答？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989320" cy="3657600"/>
          </a:xfrm>
          <a:prstGeom prst="roundRect">
            <a:avLst>
              <a:gd name="adj" fmla="val 225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0976" y="1645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情境卡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0976" y="201168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一家年营收两三千万的细分行业中小企业。老板把你叫进办公室：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「同行都在上 AI、搞数字化。跟，钱和人都不够；不跟，怕被甩下。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给你三天，告诉我到底该干什么。」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50976" y="3977640"/>
            <a:ext cx="53949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9525">
            <a:solidFill>
              <a:srgbClr val="D3DE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397764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真实约束：预算有限、没人做调研、信息不对称、决策窗口只有几天。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69480" y="14173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三天里，必须回答的三个问题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69480" y="1874520"/>
            <a:ext cx="4251960" cy="804672"/>
          </a:xfrm>
          <a:prstGeom prst="roundRect">
            <a:avLst>
              <a:gd name="adj" fmla="val 10227"/>
            </a:avLst>
          </a:prstGeom>
          <a:solidFill>
            <a:srgbClr val="DCEAE6"/>
          </a:solidFill>
          <a:ln w="12700">
            <a:solidFill>
              <a:srgbClr val="DCEA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2093976"/>
            <a:ext cx="365760" cy="365760"/>
          </a:xfrm>
          <a:prstGeom prst="ellipse">
            <a:avLst/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55280" y="19659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我们凭什么活到今天？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2267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手里有什么是别人拿不走的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834640"/>
            <a:ext cx="4251960" cy="804672"/>
          </a:xfrm>
          <a:prstGeom prst="roundRect">
            <a:avLst>
              <a:gd name="adj" fmla="val 10227"/>
            </a:avLst>
          </a:prstGeom>
          <a:solidFill>
            <a:srgbClr val="DCEAE6"/>
          </a:solidFill>
          <a:ln w="12700">
            <a:solidFill>
              <a:srgbClr val="DCEA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3054096"/>
            <a:ext cx="365760" cy="365760"/>
          </a:xfrm>
          <a:prstGeom prst="ellipse">
            <a:avLst/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0" y="29260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对手正在往哪走？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55280" y="32278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我们站在赛道的哪个位置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3794760"/>
            <a:ext cx="4251960" cy="804672"/>
          </a:xfrm>
          <a:prstGeom prst="roundRect">
            <a:avLst>
              <a:gd name="adj" fmla="val 10227"/>
            </a:avLst>
          </a:prstGeom>
          <a:solidFill>
            <a:srgbClr val="DCEAE6"/>
          </a:solidFill>
          <a:ln w="12700">
            <a:solidFill>
              <a:srgbClr val="DCEA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4014216"/>
            <a:ext cx="365760" cy="365760"/>
          </a:xfrm>
          <a:prstGeom prst="ellipse">
            <a:avLst/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0" y="38862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哪个动作现在做，哪个再等等？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55280" y="41879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先做哪一个、放掉哪一个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5257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为什么不能靠「感觉」和「报告」回答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" y="5596128"/>
            <a:ext cx="3520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3DE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59612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信息在别人手里：调研要钱、要人、要一个月，来不及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5596128"/>
            <a:ext cx="3520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3DE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559612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经验依赖个人：老板拍脑袋，对错都归到一个人的记忆上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28432" y="5596128"/>
            <a:ext cx="3520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3DE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11312" y="559612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顾问报告好看但不可核查：结论从哪来、数据哪一天，说不清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0" y="6382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B7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节 · 理论注入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三把尺子：中小企业也能用的战略判断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不用背概念，只要记住这三把尺子分别回答「能不能干 / 在哪干 / 能改到哪一步」。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3520440" cy="3657600"/>
          </a:xfrm>
          <a:prstGeom prst="roundRect">
            <a:avLst>
              <a:gd name="adj" fmla="val 2338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874520"/>
            <a:ext cx="402336" cy="402336"/>
          </a:xfrm>
          <a:prstGeom prst="ellipse">
            <a:avLst/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资源基础观 RBV / VRIO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926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Barney（1991）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先问：我们手里有什么是稀缺的、难模仿的、能被组织用起来的？（人、渠道、老师傅的手艺、老客户的信任、沉淀的数据）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32688" y="47091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E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回答「能不能干」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645920"/>
            <a:ext cx="3520440" cy="3657600"/>
          </a:xfrm>
          <a:prstGeom prst="roundRect">
            <a:avLst>
              <a:gd name="adj" fmla="val 2338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874520"/>
            <a:ext cx="402336" cy="402336"/>
          </a:xfrm>
          <a:prstGeom prst="ellipse">
            <a:avLst/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定位学派 · 生态位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2926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Porter（1980）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17720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再问：我们站在赛道的哪个位置？跟谁正面撞？哪块空地没人占？利润是被上游拿走还是被下游挤掉？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47091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E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回答「在哪干」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28432" y="1645920"/>
            <a:ext cx="3520440" cy="3657600"/>
          </a:xfrm>
          <a:prstGeom prst="roundRect">
            <a:avLst>
              <a:gd name="adj" fmla="val 2338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02752" y="1874520"/>
            <a:ext cx="402336" cy="402336"/>
          </a:xfrm>
          <a:prstGeom prst="ellipse">
            <a:avLst/>
          </a:prstGeom>
          <a:solidFill>
            <a:srgbClr val="C96A22"/>
          </a:solidFill>
          <a:ln w="12700">
            <a:solidFill>
              <a:srgbClr val="C96A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02752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动态能力 · 路径依赖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02752" y="2926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Teece（1997）· David / Arthur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02752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最后问：今天的能力是过去哪些选择长出来的？哪个早期决定已经锁死了路？哪些能力可以快速重配？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302752" y="470916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E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回答「能改到哪一步」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" y="553212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32688" y="55321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三把尺子接起来，就是一条流水线：先看它是怎么长出来的（纵轴），再看对手站在哪（横轴），最后交汇出「现在该做什么」。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972800" y="6382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B7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C7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节 · 方法论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横纵分析法：两条轴，一张判断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062472" y="1874520"/>
            <a:ext cx="45720" cy="3886200"/>
          </a:xfrm>
          <a:prstGeom prst="rect">
            <a:avLst/>
          </a:prstGeom>
          <a:solidFill>
            <a:srgbClr val="7EC3B2"/>
          </a:solidFill>
          <a:ln w="12700">
            <a:solidFill>
              <a:srgbClr val="7EC3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52744" y="1600200"/>
            <a:ext cx="265176" cy="274320"/>
          </a:xfrm>
          <a:prstGeom prst="triangle">
            <a:avLst/>
          </a:prstGeom>
          <a:solidFill>
            <a:srgbClr val="7EC3B2"/>
          </a:solidFill>
          <a:ln w="12700">
            <a:solidFill>
              <a:srgbClr val="7EC3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4206240"/>
            <a:ext cx="10607040" cy="45720"/>
          </a:xfrm>
          <a:prstGeom prst="rect">
            <a:avLst/>
          </a:prstGeom>
          <a:solidFill>
            <a:srgbClr val="7EC3B2"/>
          </a:solidFill>
          <a:ln w="12700">
            <a:solidFill>
              <a:srgbClr val="7EC3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11384280" y="4101084"/>
            <a:ext cx="274320" cy="265176"/>
          </a:xfrm>
          <a:prstGeom prst="triangle">
            <a:avLst/>
          </a:prstGeom>
          <a:solidFill>
            <a:srgbClr val="7EC3B2"/>
          </a:solidFill>
          <a:ln w="12700">
            <a:solidFill>
              <a:srgbClr val="7EC3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56632" y="3200400"/>
            <a:ext cx="2057400" cy="2057400"/>
          </a:xfrm>
          <a:prstGeom prst="ellipse">
            <a:avLst/>
          </a:prstGeom>
          <a:solidFill>
            <a:srgbClr val="C96A22"/>
          </a:solidFill>
          <a:ln w="50800">
            <a:solidFill>
              <a:srgbClr val="0E2E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56632" y="3200400"/>
            <a:ext cx="2057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交汇</a:t>
            </a:r>
            <a:endParaRPr lang="en-US" sz="17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判断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1691640"/>
            <a:ext cx="4069080" cy="2286000"/>
          </a:xfrm>
          <a:prstGeom prst="roundRect">
            <a:avLst>
              <a:gd name="adj" fmla="val 3600"/>
            </a:avLst>
          </a:prstGeom>
          <a:solidFill>
            <a:srgbClr val="17453D"/>
          </a:solidFill>
          <a:ln w="12700">
            <a:solidFill>
              <a:srgbClr val="1745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8288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C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纵轴 · 时间深度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13969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FA7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四个必答题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2432304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它从哪来？谁做的，为什么是他们？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关键转折点在哪，当时的约束是什么？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哪个早期决定锁死了后面的路？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现在处在哪个阶段、核心矛盾是什么？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60920" y="1691640"/>
            <a:ext cx="4160520" cy="2286000"/>
          </a:xfrm>
          <a:prstGeom prst="roundRect">
            <a:avLst>
              <a:gd name="adj" fmla="val 3600"/>
            </a:avLst>
          </a:prstGeom>
          <a:solidFill>
            <a:srgbClr val="17453D"/>
          </a:solidFill>
          <a:ln w="12700">
            <a:solidFill>
              <a:srgbClr val="174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82880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C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横轴 · 同期广度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89520" y="213969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FA7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四个必答题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89520" y="2432304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同一个赛道上，谁在打？谁是替代方案？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用户为什么选对手，而不是选它？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你占的是哪块生态位？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格局是百花齐放、两强争霸还是一家独大？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617720"/>
            <a:ext cx="4069080" cy="1143000"/>
          </a:xfrm>
          <a:prstGeom prst="roundRect">
            <a:avLst>
              <a:gd name="adj" fmla="val 7200"/>
            </a:avLst>
          </a:prstGeom>
          <a:solidFill>
            <a:srgbClr val="123B35"/>
          </a:solidFill>
          <a:ln w="12700">
            <a:solidFill>
              <a:srgbClr val="123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7091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DC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方法论来源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49834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FCF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索绪尔的历时-共时分析 · 纵向-横截面研究设计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FCF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商学院案例研究法 · 竞争战略的生态位视角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60920" y="4617720"/>
            <a:ext cx="4160520" cy="1143000"/>
          </a:xfrm>
          <a:prstGeom prst="roundRect">
            <a:avLst>
              <a:gd name="adj" fmla="val 7200"/>
            </a:avLst>
          </a:prstGeom>
          <a:solidFill>
            <a:srgbClr val="123B35"/>
          </a:solidFill>
          <a:ln w="12700">
            <a:solidFill>
              <a:srgbClr val="123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47091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DC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分钟，跑出什么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43800" y="498348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FCF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一页纸 = 纵轴时间线 + 横轴对比矩阵 + 一句话判断 + 三步动作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纵向追时间深度，横向追同期广度，交汇出判断。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2–3 节 · 实操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把方法交给 AI 智能体：五步跑完一次决策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人负责定义问题和验收，智能体负责取证、铺时间线、做对比、出草稿。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2057400" cy="2331720"/>
          </a:xfrm>
          <a:prstGeom prst="roundRect">
            <a:avLst>
              <a:gd name="adj" fmla="val 4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801368"/>
            <a:ext cx="402336" cy="402336"/>
          </a:xfrm>
          <a:prstGeom prst="ellipse">
            <a:avLst/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定关键词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27432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一个公司、一个概念或一条赛道。越具体越好：不是「数字化」，而是「值得买」。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71216" y="1600200"/>
            <a:ext cx="2057400" cy="2331720"/>
          </a:xfrm>
          <a:prstGeom prst="roundRect">
            <a:avLst>
              <a:gd name="adj" fmla="val 4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72384" y="1801368"/>
            <a:ext cx="402336" cy="402336"/>
          </a:xfrm>
          <a:prstGeom prst="ellipse">
            <a:avLst/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72384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联网取证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72384" y="27432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一手来源优先：官网、年报、案例库、产品文档。每条事实带日期和出处。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84064" y="1600200"/>
            <a:ext cx="2057400" cy="2331720"/>
          </a:xfrm>
          <a:prstGeom prst="roundRect">
            <a:avLst>
              <a:gd name="adj" fmla="val 4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85232" y="1801368"/>
            <a:ext cx="402336" cy="402336"/>
          </a:xfrm>
          <a:prstGeom prst="ellipse">
            <a:avLst/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85232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跑纵轴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85232" y="27432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拉时间线，标出转折点与锁定性决策，划出阶段。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96912" y="1600200"/>
            <a:ext cx="2057400" cy="2331720"/>
          </a:xfrm>
          <a:prstGeom prst="roundRect">
            <a:avLst>
              <a:gd name="adj" fmla="val 4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0" y="1801368"/>
            <a:ext cx="402336" cy="402336"/>
          </a:xfrm>
          <a:prstGeom prst="ellipse">
            <a:avLst/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0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跑横轴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0" y="27432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 3–5 个对手，做对比矩阵，判断生态位与威胁等级。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09760" y="1600200"/>
            <a:ext cx="2057400" cy="2331720"/>
          </a:xfrm>
          <a:prstGeom prst="roundRect">
            <a:avLst>
              <a:gd name="adj" fmla="val 4000"/>
            </a:avLst>
          </a:prstGeom>
          <a:solidFill>
            <a:srgbClr val="FAE8D8"/>
          </a:solidFill>
          <a:ln w="12700">
            <a:solidFill>
              <a:srgbClr val="FAE8D8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10928" y="1801368"/>
            <a:ext cx="402336" cy="402336"/>
          </a:xfrm>
          <a:prstGeom prst="ellipse">
            <a:avLst/>
          </a:prstGeom>
          <a:solidFill>
            <a:srgbClr val="C96A22"/>
          </a:solidFill>
          <a:ln w="12700">
            <a:solidFill>
              <a:srgbClr val="C96A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10928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10928" y="2377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交汇出判断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10928" y="27432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优势/劣势的历史根源 + 三个剧本 + 下一步三步动作。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8368" y="4160520"/>
            <a:ext cx="6537960" cy="2148840"/>
          </a:xfrm>
          <a:prstGeom prst="roundRect">
            <a:avLst>
              <a:gd name="adj" fmla="val 3830"/>
            </a:avLst>
          </a:prstGeom>
          <a:solidFill>
            <a:srgbClr val="DCEAE6"/>
          </a:solidFill>
          <a:ln w="12700">
            <a:solidFill>
              <a:srgbClr val="DCEA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43159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人类在环：出结论前，先做三道校验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32688" y="4681728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关键数字有没有出处和日期？（数据截至 X 日、来源 Y）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查不到的，有没有老实标「暂缺」，而不是编一个像样的数？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结论是不是从证据长出来的：先摆事实，再给判断。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52360" y="4160520"/>
            <a:ext cx="4069080" cy="2148840"/>
          </a:xfrm>
          <a:prstGeom prst="roundRect">
            <a:avLst>
              <a:gd name="adj" fmla="val 3830"/>
            </a:avLst>
          </a:prstGeom>
          <a:solidFill>
            <a:srgbClr val="0E2E2A"/>
          </a:solidFill>
          <a:ln w="12700">
            <a:solidFill>
              <a:srgbClr val="0E2E2A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80960" y="43159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C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你今天只要说一句话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80960" y="468172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「用横纵分析法研究 XXX」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680960" y="50749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9E2D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想更准，再补三句：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9E2D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研究对象是谁、属于什么类型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9E2D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特别想看哪个方向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9E2D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报告给谁看、要做什么决策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972800" y="6382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B7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节 · 现场演示（纵轴）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值得买的 14 年：今天的 AI 弹药，是十年前攒的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3246120" cy="384048"/>
          </a:xfrm>
          <a:prstGeom prst="roundRect">
            <a:avLst>
              <a:gd name="adj" fmla="val 47619"/>
            </a:avLst>
          </a:prstGeom>
          <a:solidFill>
            <a:srgbClr val="DCEAE6"/>
          </a:solidFill>
          <a:ln w="12700">
            <a:solidFill>
              <a:srgbClr val="DCEA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716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萌芽期 2010–2014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059936" y="1371600"/>
            <a:ext cx="3657600" cy="384048"/>
          </a:xfrm>
          <a:prstGeom prst="roundRect">
            <a:avLst>
              <a:gd name="adj" fmla="val 4761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59936" y="1371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成长期 2015–2019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72984" y="1371600"/>
            <a:ext cx="3666744" cy="384048"/>
          </a:xfrm>
          <a:prstGeom prst="roundRect">
            <a:avLst>
              <a:gd name="adj" fmla="val 47619"/>
            </a:avLst>
          </a:prstGeom>
          <a:solidFill>
            <a:srgbClr val="FAE8D8"/>
          </a:solidFill>
          <a:ln w="12700">
            <a:solidFill>
              <a:srgbClr val="FAE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72984" y="1371600"/>
            <a:ext cx="3666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4A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转型期 2020–2026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3310128"/>
            <a:ext cx="10515600" cy="41148"/>
          </a:xfrm>
          <a:prstGeom prst="rect">
            <a:avLst/>
          </a:prstGeom>
          <a:solidFill>
            <a:srgbClr val="D3DED9"/>
          </a:solidFill>
          <a:ln w="12700">
            <a:solidFill>
              <a:srgbClr val="D3DE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0724" y="3244291"/>
            <a:ext cx="210312" cy="210312"/>
          </a:xfrm>
          <a:prstGeom prst="ellipse">
            <a:avLst/>
          </a:prstGeom>
          <a:solidFill>
            <a:srgbClr val="1F6F6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939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"什么值得买"网站上线：UGC 优惠信息聚合，当时主流是编辑推荐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4388" y="3244291"/>
            <a:ext cx="210312" cy="210312"/>
          </a:xfrm>
          <a:prstGeom prst="ellipse">
            <a:avLst/>
          </a:prstGeom>
          <a:solidFill>
            <a:srgbClr val="1F6F6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40864" y="35844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340864" y="390448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公司成立，导购模式跑通：帮用户匹配商品，为平台做营销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8052" y="3244291"/>
            <a:ext cx="210312" cy="210312"/>
          </a:xfrm>
          <a:prstGeom prst="ellipse">
            <a:avLst/>
          </a:prstGeom>
          <a:solidFill>
            <a:srgbClr val="1F6F6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20939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24528" y="241401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商品百科上线：把用户评价变成结构化数据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71716" y="3244291"/>
            <a:ext cx="210312" cy="210312"/>
          </a:xfrm>
          <a:prstGeom prst="ellipse">
            <a:avLst/>
          </a:prstGeom>
          <a:solidFill>
            <a:srgbClr val="1F6F6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35844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2019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08192" y="390448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深交所上市（300785），业务走向集团化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755380" y="3244291"/>
            <a:ext cx="210312" cy="210312"/>
          </a:xfrm>
          <a:prstGeom prst="ellipse">
            <a:avLst/>
          </a:prstGeom>
          <a:solidFill>
            <a:srgbClr val="C96A2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91856" y="20939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6A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91856" y="241401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纳入集团战略，成立 AI 实验室、储备算力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639044" y="3244291"/>
            <a:ext cx="210312" cy="210312"/>
          </a:xfrm>
          <a:prstGeom prst="ellipse">
            <a:avLst/>
          </a:prstGeom>
          <a:solidFill>
            <a:srgbClr val="C96A2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0" y="35844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6A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75520" y="390448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 AI 战略 + 自研消费大模型；AI 助手「小值」入选工信部 2024 年新型数字服务优秀案例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" y="5029200"/>
            <a:ext cx="10881360" cy="1005840"/>
          </a:xfrm>
          <a:prstGeom prst="roundRect">
            <a:avLst>
              <a:gd name="adj" fmla="val 818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32688" y="5120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锁定性决策链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32688" y="53949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2010 选 UGC（内容即数据） →  2015 商品百科（结构化） →  2018 定位「技术驱动」 →  2020 数据中心（数据资产化）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56692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4A1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到了 2023 年 AI 爆发时，它手里已经有别人没有的弹药。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" y="61722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数据来源：中国管理案例共享中心 STR-2480 案例正文；本仓库示例报告《值得买_横纵分析报告》（数据截至 2026 年，2025 年后进展以该报告口径为准）。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972800" y="6382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B7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节 · 现场演示（横轴）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同一个切面：它凭什么打得过小红书、又敢碰 AI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17320"/>
          <a:ext cx="10881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657600"/>
                <a:gridCol w="33375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它的打法与定位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用户为什么选它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威胁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小红书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UGC 笔记社区，正从「种草」往决策 + 购买的全链路延伸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解决「想不想买」：内容好看、社区氛围强、人群年轻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6A2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淘宝 / 京东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平台自带内容化：逛逛、发现，内容到交易一步到位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有交易闭环，但内容质量参差、中立性天然弱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4A1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豆包 / Kimi 等通用助手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通用 AI 助手 + 自有 Agent 生态，流量入口极大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技术强、入口大，但不擅长垂类的消费决策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4A1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中（可合作）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垂类 AI 导购新玩家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针对单一品类做 AI 导购，做得深但盘子窄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垂类体验好，但缺数据、缺内容积累、缺信任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6F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" y="562356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32688" y="56235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生态位结论：它卡在一个窄口——不做种草（打不过小红书），不做交易（打不过平台），而是用 14 年攒下的结构化消费数据，去当 AI 时代的「消费决策基础设施」。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0" y="6382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B7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3–4 节 · 横纵交汇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把两条轴交叉：四条洞察、三个剧本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6126480" cy="896112"/>
          </a:xfrm>
          <a:prstGeom prst="roundRect">
            <a:avLst>
              <a:gd name="adj" fmla="val 9184"/>
            </a:avLst>
          </a:prstGeom>
          <a:solidFill>
            <a:srgbClr val="FAE8D8"/>
          </a:solidFill>
          <a:ln w="12700">
            <a:solidFill>
              <a:srgbClr val="FAE8D8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627632"/>
            <a:ext cx="384048" cy="384048"/>
          </a:xfrm>
          <a:prstGeom prst="ellipse">
            <a:avLst/>
          </a:prstGeom>
          <a:solidFill>
            <a:srgbClr val="C96A22"/>
          </a:solidFill>
          <a:ln w="12700">
            <a:solidFill>
              <a:srgbClr val="C96A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9888" y="147218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今天的护城河，是当年那一步埋的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89888" y="1755648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A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商品百科把内容变成结构化数据，十年后成了 AI 的燃料。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2395728"/>
            <a:ext cx="6126480" cy="896112"/>
          </a:xfrm>
          <a:prstGeom prst="roundRect">
            <a:avLst>
              <a:gd name="adj" fmla="val 918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9536" y="2651760"/>
            <a:ext cx="384048" cy="384048"/>
          </a:xfrm>
          <a:prstGeom prst="ellipse">
            <a:avLst/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89888" y="2496312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赛道换了，对手就换了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89888" y="2779776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A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它已经不是内容公司，而是消费决策的基础设施——对比对象自然不同。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419856"/>
            <a:ext cx="6126480" cy="896112"/>
          </a:xfrm>
          <a:prstGeom prst="roundRect">
            <a:avLst>
              <a:gd name="adj" fmla="val 918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3675888"/>
            <a:ext cx="384048" cy="384048"/>
          </a:xfrm>
          <a:prstGeom prst="ellipse">
            <a:avLst/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89888" y="352044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夹击来自两头，出路在别人入口里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89888" y="3803904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A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上有平台、下有通用助手，解法是把能力接进别人的入口（MCP / Skill）。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4443984"/>
            <a:ext cx="6126480" cy="896112"/>
          </a:xfrm>
          <a:prstGeom prst="roundRect">
            <a:avLst>
              <a:gd name="adj" fmla="val 918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" y="4700016"/>
            <a:ext cx="384048" cy="384048"/>
          </a:xfrm>
          <a:prstGeom prst="ellipse">
            <a:avLst/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89888" y="454456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最贵的资产是数据，最贵的能力是翻译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89888" y="4828032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A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把海量数据翻译成一句可执行的购买建议，才是真本事。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40880" y="1371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三个剧本（未来推演）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40880" y="1737360"/>
            <a:ext cx="4480560" cy="1170432"/>
          </a:xfrm>
          <a:prstGeom prst="roundRect">
            <a:avLst>
              <a:gd name="adj" fmla="val 7031"/>
            </a:avLst>
          </a:prstGeom>
          <a:solidFill>
            <a:srgbClr val="DCEAE6"/>
          </a:solidFill>
          <a:ln w="12700">
            <a:solidFill>
              <a:srgbClr val="DCEA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42048" y="1883664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42048" y="18836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最可能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42048" y="2286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垂类 AI 管家站稳，「接入型」收入慢慢起量。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040880" y="3035808"/>
            <a:ext cx="4480560" cy="1170432"/>
          </a:xfrm>
          <a:prstGeom prst="roundRect">
            <a:avLst>
              <a:gd name="adj" fmla="val 7031"/>
            </a:avLst>
          </a:prstGeom>
          <a:solidFill>
            <a:srgbClr val="FAE8D8"/>
          </a:solidFill>
          <a:ln w="12700">
            <a:solidFill>
              <a:srgbClr val="FAE8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42048" y="318211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8A4A12"/>
          </a:solidFill>
          <a:ln w="12700">
            <a:solidFill>
              <a:srgbClr val="8A4A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2048" y="318211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最危险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42048" y="35844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通用助手自带消费决策 + 平台内容闭环，两头挤压。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040880" y="4334256"/>
            <a:ext cx="4480560" cy="1170432"/>
          </a:xfrm>
          <a:prstGeom prst="roundRect">
            <a:avLst>
              <a:gd name="adj" fmla="val 703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42048" y="4480560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1F6F63"/>
          </a:solidFill>
          <a:ln w="12700">
            <a:solidFill>
              <a:srgbClr val="1F6F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448056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最乐观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42048" y="48828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成为 AI 时代的消费决策入口，数据服务成为第二增长曲线。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58368" y="557784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0E2E2A"/>
          </a:solidFill>
          <a:ln w="12700">
            <a:solidFill>
              <a:srgbClr val="0E2E2A"/>
            </a:solidFill>
            <a:prstDash val="solid"/>
          </a:ln>
          <a:effectLst>
            <a:outerShdw sx="100000" sy="100000" kx="0" ky="0" algn="bl" rotWithShape="0" blurRad="114300" dist="25400" dir="5400000">
              <a:srgbClr val="0E2E2A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32688" y="55778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对中小企业的类推：你的「商品百科时刻」是什么？——把老师傅脑子里的经验，变成能复用、能喂给 AI 的结构化数据。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972800" y="6382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B7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C7B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节 · 实战与交付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你们上场：15 分钟跑一个关键词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6583680" cy="4480560"/>
          </a:xfrm>
          <a:prstGeom prst="roundRect">
            <a:avLst>
              <a:gd name="adj" fmla="val 1837"/>
            </a:avLst>
          </a:prstGeom>
          <a:solidFill>
            <a:srgbClr val="17453D"/>
          </a:solidFill>
          <a:ln w="12700">
            <a:solidFill>
              <a:srgbClr val="174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5361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FDC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分组实战：4–5 人一组，15 分钟作战流程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50976" y="195681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A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0–1′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09928" y="1929384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定关键词：从词池里挑一个（小微企业的 AI 客服选型 / 餐饮老板的数字化 / 跨境电商 AI 选品 / 你自己的公司）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76" y="25786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A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1–3′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09928" y="2551176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联网取证：至少 5 条带日期、带来源的事实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0976" y="32004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A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3–8′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09928" y="3172968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跑纵轴：3 个关键节点 + 1 个锁定性决策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0976" y="38221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A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8–13′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09928" y="3794760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跑横轴：3 个对手，各写一条优势、一条短板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444398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A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13–15′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09928" y="4416552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交汇：一句话判断 + 一个明天就能做的动作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0976" y="5138928"/>
            <a:ext cx="5998464" cy="603504"/>
          </a:xfrm>
          <a:prstGeom prst="roundRect">
            <a:avLst>
              <a:gd name="adj" fmla="val 13636"/>
            </a:avLst>
          </a:prstGeom>
          <a:solidFill>
            <a:srgbClr val="123B35"/>
          </a:solidFill>
          <a:ln w="12700">
            <a:solidFill>
              <a:srgbClr val="123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513892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汇报模板（5 句话）：对象 → 纵轴关键节点 → 横轴最大威胁 → 一句话判断 → 下一步动作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43800" y="1371600"/>
            <a:ext cx="3995928" cy="2084832"/>
          </a:xfrm>
          <a:prstGeom prst="roundRect">
            <a:avLst>
              <a:gd name="adj" fmla="val 3947"/>
            </a:avLst>
          </a:prstGeom>
          <a:solidFill>
            <a:srgbClr val="17453D"/>
          </a:solidFill>
          <a:ln w="12700">
            <a:solidFill>
              <a:srgbClr val="1745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C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评分表（40 分）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26680" y="1810512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证据可核查（带日期、带来源）…… 15 分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纵轴完整（节点 + 锁定性决策）…… 10 分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横轴对比（3 个对手，说清为什么）…… 10 分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判断有支撑（先事实、后判断）………… 5 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43800" y="3611880"/>
            <a:ext cx="3995928" cy="2240280"/>
          </a:xfrm>
          <a:prstGeom prst="roundRect">
            <a:avLst>
              <a:gd name="adj" fmla="val 3673"/>
            </a:avLst>
          </a:prstGeom>
          <a:solidFill>
            <a:srgbClr val="17453D"/>
          </a:solidFill>
          <a:ln w="12700">
            <a:solidFill>
              <a:srgbClr val="1745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3721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CC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 7 天行动卡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26680" y="4050792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D1–2　选定你自己公司或最熟悉的中小企业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D3–4　用横纵分析法跑一份报告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D5　　发给 3 个人，收集 5 条「我不信」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D6　　重跑一次，把漏洞补上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D7EA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D7　　交一页决策简报给老板或自己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9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横纵分析法 · 教学版仓库：github.com/cyh85/small-business-management　｜　主案例：中国管理案例共享中心 STR-2480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把方法交给智能体，把判断留给自己。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AI 智能体把战略决策跑快：横纵分析法实战</dc:title>
  <dc:subject>PptxGenJS Presentation</dc:subject>
  <dc:creator>MBA《中小企业实务》· 战略决策模块</dc:creator>
  <cp:lastModifiedBy>MBA《中小企业实务》· 战略决策模块</cp:lastModifiedBy>
  <cp:revision>1</cp:revision>
  <dcterms:created xsi:type="dcterms:W3CDTF">2026-09-21T17:57:06Z</dcterms:created>
  <dcterms:modified xsi:type="dcterms:W3CDTF">2026-09-21T17:57:06Z</dcterms:modified>
</cp:coreProperties>
</file>